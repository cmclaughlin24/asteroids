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1"/>
  </p:sldMasterIdLst>
  <p:notesMasterIdLst>
    <p:notesMasterId r:id="rId13"/>
  </p:notesMasterIdLst>
  <p:sldIdLst>
    <p:sldId id="256" r:id="rId2"/>
    <p:sldId id="259" r:id="rId3"/>
    <p:sldId id="261" r:id="rId4"/>
    <p:sldId id="257" r:id="rId5"/>
    <p:sldId id="262" r:id="rId6"/>
    <p:sldId id="263" r:id="rId7"/>
    <p:sldId id="266" r:id="rId8"/>
    <p:sldId id="267" r:id="rId9"/>
    <p:sldId id="269" r:id="rId10"/>
    <p:sldId id="268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A8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72"/>
    <p:restoredTop sz="79248"/>
  </p:normalViewPr>
  <p:slideViewPr>
    <p:cSldViewPr snapToGrid="0">
      <p:cViewPr varScale="1">
        <p:scale>
          <a:sx n="90" d="100"/>
          <a:sy n="90" d="100"/>
        </p:scale>
        <p:origin x="2080" y="184"/>
      </p:cViewPr>
      <p:guideLst/>
    </p:cSldViewPr>
  </p:slideViewPr>
  <p:outlineViewPr>
    <p:cViewPr>
      <p:scale>
        <a:sx n="40" d="100"/>
        <a:sy n="4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3FA4C-81E2-9343-A951-4FC00D0DE25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D8A30-7538-384D-8190-87F9CCE32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61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D8A30-7538-384D-8190-87F9CCE32C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972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D5037-5EC4-9306-1D0C-2D4F916C4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64A8E7-872E-1C8F-4DD4-6EA1751FE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CC51BE-6898-0E7B-15C8-966F9BD15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200"/>
              <a:t>Quick show of hands: who regularly works with exceptions, inheritance, method overloading, have used dependency injection, or been involved in a code formatting debate with your coworker for more than 15 minutes? (No judgement… unless you’re arguing about quotes in JavaScript)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/>
              <a:t>Perfect. Go doesn’t do most of that… and it already picked a winner in the formatting debate.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AFE57-DB88-0ADF-8640-E86A4424C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D8A30-7538-384D-8190-87F9CCE32C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08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9815C-29FC-C6EE-AD0C-47A72B9B3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503AD-DB60-9BAF-453A-C73F4F6264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03C588-8B17-F3BF-A5A8-F3B726A4A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A17B3-6CF2-BF2A-4115-627EC3B432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D8A30-7538-384D-8190-87F9CCE32C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47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Before we talk about what Go removed, it’s worth understanding the environment it was created in.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chemeClr val="tx1"/>
                </a:solidFill>
              </a:rPr>
              <a:t>In the mid-to-late 2000s, Google had millions of lines of code, huge developer teams, increasingly distributed systems, and build times that were becoming painful.</a:t>
            </a:r>
            <a:endParaRPr lang="en-US"/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chemeClr val="tx1"/>
                </a:solidFill>
              </a:rPr>
              <a:t>Rob Pike, Ken Thompson, and Robert Griesemer saw developers spending too much time waiting for builds, navigating complex abstractions, and managing increasingly large codebases.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chemeClr val="tx1"/>
                </a:solidFill>
              </a:rPr>
              <a:t>The question wasn’t “What features can we add?” it was “What complexity can we remove?”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D8A30-7538-384D-8190-87F9CCE32C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9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7733E-5B18-A3F0-F85E-0415D6514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BC5BD9-3258-DC8E-1156-94D530991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0F6B5-6D33-BFC7-8869-30F330D13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Everything else in today’s talk is just an example of one of these four principles. Rather than walking through the syntax, we’re going to build a small game. As we build it, we’re going to run into all the things Go intentionally say’s “no” 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83DFF-6C99-BB18-42A9-10E6C677F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D8A30-7538-384D-8190-87F9CCE32C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61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A51F6-78F0-5718-F848-1C58AD8A2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FC2F43-6796-C182-2C14-45628E0C1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76CF5-1B41-5251-8584-08EA6D2CC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Structs hold data. Receiver functions hold behavior.</a:t>
            </a:r>
          </a:p>
          <a:p>
            <a:r>
              <a:rPr lang="en-US" dirty="0" err="1">
                <a:solidFill>
                  <a:schemeClr val="tx1"/>
                </a:solidFill>
              </a:rPr>
              <a:t>NewPlayer</a:t>
            </a:r>
            <a:r>
              <a:rPr lang="en-US" dirty="0">
                <a:solidFill>
                  <a:schemeClr val="tx1"/>
                </a:solidFill>
              </a:rPr>
              <a:t>() is just a regular function, no special syntax.</a:t>
            </a:r>
          </a:p>
          <a:p>
            <a:r>
              <a:rPr lang="en-US" dirty="0">
                <a:solidFill>
                  <a:schemeClr val="tx1"/>
                </a:solidFill>
              </a:rPr>
              <a:t>No public/private - canalization controls visibility outside package.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CF92C-F520-8358-686F-BFAE1C2E9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D8A30-7538-384D-8190-87F9CCE32C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35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9945F-8A03-04F4-22F3-125EFE44E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C5EFDD-0CBB-5115-4BBB-94CEEFAEC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4AFAF-85A8-520A-8F54-3929E77ED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No parent/child hierarchy – structs satisfy interfaces implicitly</a:t>
            </a:r>
          </a:p>
          <a:p>
            <a:r>
              <a:rPr lang="en-US" dirty="0" err="1">
                <a:solidFill>
                  <a:schemeClr val="tx1"/>
                </a:solidFill>
              </a:rPr>
              <a:t>TitleScene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dirty="0" err="1">
                <a:solidFill>
                  <a:schemeClr val="tx1"/>
                </a:solidFill>
              </a:rPr>
              <a:t>GameScene</a:t>
            </a:r>
            <a:r>
              <a:rPr lang="en-US" dirty="0">
                <a:solidFill>
                  <a:schemeClr val="tx1"/>
                </a:solidFill>
              </a:rPr>
              <a:t> have no knowledge of each other</a:t>
            </a:r>
          </a:p>
          <a:p>
            <a:r>
              <a:rPr lang="en-US" dirty="0" err="1">
                <a:solidFill>
                  <a:schemeClr val="tx1"/>
                </a:solidFill>
              </a:rPr>
              <a:t>SceneManager</a:t>
            </a:r>
            <a:r>
              <a:rPr lang="en-US" dirty="0">
                <a:solidFill>
                  <a:schemeClr val="tx1"/>
                </a:solidFill>
              </a:rPr>
              <a:t> holds either one via the Scene interface – no casting, no coordination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DA210-3532-6127-BB6E-46212AACB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D8A30-7538-384D-8190-87F9CCE32C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42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80F77-991E-2B6D-DA95-448223306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EC3C3E-FEB2-5688-07F1-24EDFC7A3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07239B-4B1D-FAFE-5178-302A38DF1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Errors are return values – you can’t ignore them without making a deliberate choice</a:t>
            </a:r>
          </a:p>
          <a:p>
            <a:r>
              <a:rPr lang="en-US" dirty="0">
                <a:solidFill>
                  <a:schemeClr val="tx1"/>
                </a:solidFill>
              </a:rPr>
              <a:t>The call chain is explicit</a:t>
            </a:r>
          </a:p>
          <a:p>
            <a:r>
              <a:rPr lang="en-US" dirty="0">
                <a:solidFill>
                  <a:schemeClr val="tx1"/>
                </a:solidFill>
              </a:rPr>
              <a:t>No hidden control flow – errors travel the same path as any other value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F2864-FC68-7F01-1D89-8D81FA444B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D8A30-7538-384D-8190-87F9CCE32C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010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C7EC8-AD01-9F0D-D4F1-A86BFABF7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6E95AA-B0B7-FCD4-90DA-4E7F405E2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387BF-3A38-DB72-A43B-E625254FF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No configuration file — </a:t>
            </a:r>
            <a:r>
              <a:rPr lang="en-US" dirty="0" err="1">
                <a:solidFill>
                  <a:schemeClr val="tx1"/>
                </a:solidFill>
              </a:rPr>
              <a:t>gofmt</a:t>
            </a:r>
            <a:r>
              <a:rPr lang="en-US" dirty="0">
                <a:solidFill>
                  <a:schemeClr val="tx1"/>
                </a:solidFill>
              </a:rPr>
              <a:t> has no options by design</a:t>
            </a:r>
          </a:p>
          <a:p>
            <a:r>
              <a:rPr lang="en-US" dirty="0">
                <a:solidFill>
                  <a:schemeClr val="tx1"/>
                </a:solidFill>
              </a:rPr>
              <a:t>Code reviews focus on logic, not style</a:t>
            </a:r>
          </a:p>
          <a:p>
            <a:r>
              <a:rPr lang="en-US" dirty="0">
                <a:solidFill>
                  <a:schemeClr val="tx1"/>
                </a:solidFill>
              </a:rPr>
              <a:t>The Asteroids codebase runs </a:t>
            </a:r>
            <a:r>
              <a:rPr lang="en-US" dirty="0" err="1">
                <a:solidFill>
                  <a:schemeClr val="tx1"/>
                </a:solidFill>
              </a:rPr>
              <a:t>gofmt</a:t>
            </a:r>
            <a:r>
              <a:rPr lang="en-US" dirty="0">
                <a:solidFill>
                  <a:schemeClr val="tx1"/>
                </a:solidFill>
              </a:rPr>
              <a:t> — you didn't choose that, it just 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1B3A7-76CE-B064-B929-AA830BFCF4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D8A30-7538-384D-8190-87F9CCE32C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603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CE9A6-977C-3300-447A-3730F125E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9503C-F183-AB33-E680-736E7AD68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578AD-59B8-E89D-4EFC-9BB8FEA34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 goroutine is launched with a single keyword — go</a:t>
            </a:r>
          </a:p>
          <a:p>
            <a:r>
              <a:rPr lang="en-US" dirty="0">
                <a:solidFill>
                  <a:schemeClr val="tx1"/>
                </a:solidFill>
              </a:rPr>
              <a:t>Goroutines are not OS threads — Go manages thousands of them on a small thread pool</a:t>
            </a:r>
          </a:p>
          <a:p>
            <a:r>
              <a:rPr lang="en-US"/>
              <a:t>Channels provide a structured way for goroutines to communicate and coordinate.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F9B72-D475-A4D6-687C-50307F38B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D8A30-7538-384D-8190-87F9CCE32C3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787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077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5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114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8/16/26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621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8/16/26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127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8/16/26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888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220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8/16/26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944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8/16/26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92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481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8/16/26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252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8/16/26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599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C9FAE-F749-B1B9-FCE7-764A928123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Go</a:t>
            </a:r>
            <a:br>
              <a:rPr lang="en-US" sz="4000" dirty="0"/>
            </a:br>
            <a:r>
              <a:rPr lang="en-US" sz="2400" dirty="0"/>
              <a:t>The Language That Intentionally Says ”No”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33B80B-365D-84E3-E711-04A7C66FC5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Curtis McLaughlin</a:t>
            </a:r>
          </a:p>
          <a:p>
            <a:r>
              <a:rPr lang="en-US" sz="1600" dirty="0"/>
              <a:t>August 18</a:t>
            </a:r>
            <a:r>
              <a:rPr lang="en-US" sz="1600" baseline="30000" dirty="0"/>
              <a:t>th</a:t>
            </a:r>
            <a:r>
              <a:rPr lang="en-US" sz="1600" dirty="0"/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3442226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3347E8-76B6-0793-CE33-808A7F3BF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5AE923E-D199-CFA9-880B-A1E87D0CD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7BE827-D42C-24BC-1C6B-17B619A89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2543B38-F023-049C-515F-32E482934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FA969A-EF84-F4CB-2A2A-900FE1B2F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7" y="761999"/>
            <a:ext cx="7552943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B99293-5CA0-1E96-BD8E-B72855491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4082" y="1298448"/>
            <a:ext cx="6068070" cy="32552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spc="-100" dirty="0"/>
              <a:t>What if a language became popular because of the features it refused to add?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709BB4-C31A-6047-73BB-CC9A7036A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912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 descr="Go Lang Gopher No Sticker - Just Stickers : Just Stickers">
            <a:extLst>
              <a:ext uri="{FF2B5EF4-FFF2-40B4-BE49-F238E27FC236}">
                <a16:creationId xmlns:a16="http://schemas.microsoft.com/office/drawing/2014/main" id="{A05A1F89-CB29-2BEB-5B76-32DA0EE4B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77" y="1695799"/>
            <a:ext cx="3458249" cy="345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173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24F609-6AC6-5324-40B8-29160DC5F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70589D0-5B1C-56D7-A58A-67B12C5E2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1C8676-8040-FFC2-E302-AEDED78A6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4E058F9-4281-CDE4-4FC2-04EDEB040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0AEA48-730F-2941-EB23-027D80806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7" y="761999"/>
            <a:ext cx="7552943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308D4-AC41-1BC8-62AB-A9B776E0F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4082" y="1298448"/>
            <a:ext cx="6068070" cy="32552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spc="-100"/>
              <a:t>If Go removed all these things that many developers consider essential, why did anyone adopt it?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A6D4FE-8151-3ABE-5EDB-6C5049049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912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" name="Picture 2" descr="10 Golang Gopher ideas | go programming language comparison, learn go  programming basics, go programming language description">
            <a:extLst>
              <a:ext uri="{FF2B5EF4-FFF2-40B4-BE49-F238E27FC236}">
                <a16:creationId xmlns:a16="http://schemas.microsoft.com/office/drawing/2014/main" id="{3B7D97F4-AAB4-CE6D-104E-CD8A58FD2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044" y="834205"/>
            <a:ext cx="993989" cy="14467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1545A5-3885-FE6A-93D5-5C86B22A1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86" y="4784347"/>
            <a:ext cx="1218494" cy="427339"/>
          </a:xfrm>
          <a:prstGeom prst="rect">
            <a:avLst/>
          </a:prstGeom>
        </p:spPr>
      </p:pic>
      <p:pic>
        <p:nvPicPr>
          <p:cNvPr id="9" name="Graphic 8" descr="File:American Express logo (2018).svg - Wikimedia Commons">
            <a:extLst>
              <a:ext uri="{FF2B5EF4-FFF2-40B4-BE49-F238E27FC236}">
                <a16:creationId xmlns:a16="http://schemas.microsoft.com/office/drawing/2014/main" id="{EF75CDA4-96D4-0E5E-09A7-31555DAF16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949" y="3931188"/>
            <a:ext cx="535157" cy="5337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32CFD5-92C9-2C7A-4511-357EE4F2F6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6262" y="4677080"/>
            <a:ext cx="1192643" cy="6708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52CD2F-43DA-E615-55BC-D59F917097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5544" y="3097431"/>
            <a:ext cx="1908440" cy="795184"/>
          </a:xfrm>
          <a:prstGeom prst="rect">
            <a:avLst/>
          </a:prstGeom>
        </p:spPr>
      </p:pic>
      <p:pic>
        <p:nvPicPr>
          <p:cNvPr id="12" name="Picture 11" descr="Kubernetes Logo, symbol, meaning, history, PNG, brand">
            <a:extLst>
              <a:ext uri="{FF2B5EF4-FFF2-40B4-BE49-F238E27FC236}">
                <a16:creationId xmlns:a16="http://schemas.microsoft.com/office/drawing/2014/main" id="{8F5F730D-E73E-C6DD-6457-A58908C793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163" y="2169019"/>
            <a:ext cx="1767785" cy="9943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FB3E15-9EC1-072C-DB57-11B8B334A2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9075" y="3110262"/>
            <a:ext cx="704891" cy="704891"/>
          </a:xfrm>
          <a:prstGeom prst="rect">
            <a:avLst/>
          </a:prstGeom>
        </p:spPr>
      </p:pic>
      <p:pic>
        <p:nvPicPr>
          <p:cNvPr id="15" name="Picture 14" descr="File:Grafana logo.svg - Wikimedia Commons">
            <a:extLst>
              <a:ext uri="{FF2B5EF4-FFF2-40B4-BE49-F238E27FC236}">
                <a16:creationId xmlns:a16="http://schemas.microsoft.com/office/drawing/2014/main" id="{7994CD25-4E62-1082-6E2F-66C8EE2B8D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53424" y="4784347"/>
            <a:ext cx="661785" cy="676262"/>
          </a:xfrm>
          <a:prstGeom prst="rect">
            <a:avLst/>
          </a:prstGeom>
        </p:spPr>
      </p:pic>
      <p:pic>
        <p:nvPicPr>
          <p:cNvPr id="16" name="Picture 15" descr="ByteDance Logo PNG (Transparent) SVG AI – Free Download">
            <a:extLst>
              <a:ext uri="{FF2B5EF4-FFF2-40B4-BE49-F238E27FC236}">
                <a16:creationId xmlns:a16="http://schemas.microsoft.com/office/drawing/2014/main" id="{50C08871-A252-4866-28B5-8112E54FAD4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79366" y="1977249"/>
            <a:ext cx="1616541" cy="1616541"/>
          </a:xfrm>
          <a:prstGeom prst="rect">
            <a:avLst/>
          </a:prstGeom>
        </p:spPr>
      </p:pic>
      <p:pic>
        <p:nvPicPr>
          <p:cNvPr id="17" name="Graphic 16" descr="Download Cloudflare Logo in SVG Vector or PNG File Format ...">
            <a:extLst>
              <a:ext uri="{FF2B5EF4-FFF2-40B4-BE49-F238E27FC236}">
                <a16:creationId xmlns:a16="http://schemas.microsoft.com/office/drawing/2014/main" id="{276C473A-E0A9-F870-2747-3CC622B64A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48078" y="3675399"/>
            <a:ext cx="1774397" cy="1182931"/>
          </a:xfrm>
          <a:prstGeom prst="rect">
            <a:avLst/>
          </a:prstGeom>
        </p:spPr>
      </p:pic>
      <p:pic>
        <p:nvPicPr>
          <p:cNvPr id="18" name="Picture 17" descr="PayPal Logo, symbol, meaning, history, PNG, brand">
            <a:extLst>
              <a:ext uri="{FF2B5EF4-FFF2-40B4-BE49-F238E27FC236}">
                <a16:creationId xmlns:a16="http://schemas.microsoft.com/office/drawing/2014/main" id="{B34FF8A5-213E-5031-5DDA-714CD13822D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176" y="3163398"/>
            <a:ext cx="989374" cy="556523"/>
          </a:xfrm>
          <a:prstGeom prst="rect">
            <a:avLst/>
          </a:prstGeom>
        </p:spPr>
      </p:pic>
      <p:pic>
        <p:nvPicPr>
          <p:cNvPr id="19" name="Picture 18" descr="Capital One Logo, symbol, meaning, history, PNG, brand">
            <a:extLst>
              <a:ext uri="{FF2B5EF4-FFF2-40B4-BE49-F238E27FC236}">
                <a16:creationId xmlns:a16="http://schemas.microsoft.com/office/drawing/2014/main" id="{68B9A4B1-0E74-9C60-97A3-0CE0847896C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8487" y="3949093"/>
            <a:ext cx="1153854" cy="649043"/>
          </a:xfrm>
          <a:prstGeom prst="rect">
            <a:avLst/>
          </a:prstGeom>
        </p:spPr>
      </p:pic>
      <p:pic>
        <p:nvPicPr>
          <p:cNvPr id="20" name="Picture 19" descr="Dropbox Logo, symbol, meaning, history, PNG, brand">
            <a:extLst>
              <a:ext uri="{FF2B5EF4-FFF2-40B4-BE49-F238E27FC236}">
                <a16:creationId xmlns:a16="http://schemas.microsoft.com/office/drawing/2014/main" id="{CD3F53F2-04E1-973C-230D-D2D159F3519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7088" y="5414765"/>
            <a:ext cx="1311489" cy="737713"/>
          </a:xfrm>
          <a:prstGeom prst="rect">
            <a:avLst/>
          </a:prstGeom>
        </p:spPr>
      </p:pic>
      <p:pic>
        <p:nvPicPr>
          <p:cNvPr id="22" name="Picture 21" descr="File:Terraform Logo.svg - Wikimedia Commons">
            <a:extLst>
              <a:ext uri="{FF2B5EF4-FFF2-40B4-BE49-F238E27FC236}">
                <a16:creationId xmlns:a16="http://schemas.microsoft.com/office/drawing/2014/main" id="{A1FDB302-2C0E-B7C5-7FBC-FEDF59D687C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33163" y="5620329"/>
            <a:ext cx="1491047" cy="358783"/>
          </a:xfrm>
          <a:prstGeom prst="rect">
            <a:avLst/>
          </a:prstGeom>
        </p:spPr>
      </p:pic>
      <p:pic>
        <p:nvPicPr>
          <p:cNvPr id="4" name="Picture 3" descr="Typescript plain logo - free Icon PNG, SVG">
            <a:extLst>
              <a:ext uri="{FF2B5EF4-FFF2-40B4-BE49-F238E27FC236}">
                <a16:creationId xmlns:a16="http://schemas.microsoft.com/office/drawing/2014/main" id="{0A69E775-F4B1-16A8-9C2A-918BA43C49D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73812" y="5853755"/>
            <a:ext cx="559940" cy="55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761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DA0ACB-4EB8-2565-D5FF-A612F30CF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754" y="1087374"/>
            <a:ext cx="8983489" cy="1000978"/>
          </a:xfrm>
        </p:spPr>
        <p:txBody>
          <a:bodyPr>
            <a:normAutofit/>
          </a:bodyPr>
          <a:lstStyle/>
          <a:p>
            <a:r>
              <a:rPr lang="en-US" sz="2800" dirty="0"/>
              <a:t>Why did Google build Go?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1F32E-F791-64EC-51C5-C46D501B7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9019" y="2526526"/>
            <a:ext cx="4495247" cy="355445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8A8D2"/>
                </a:solidFill>
              </a:rPr>
              <a:t>Problems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Slow Builds (C++)</a:t>
            </a:r>
          </a:p>
          <a:p>
            <a:r>
              <a:rPr lang="en-US" sz="1600" dirty="0">
                <a:solidFill>
                  <a:schemeClr val="tx1"/>
                </a:solidFill>
              </a:rPr>
              <a:t>Huge Codebases</a:t>
            </a:r>
          </a:p>
          <a:p>
            <a:r>
              <a:rPr lang="en-US" sz="1600" dirty="0">
                <a:solidFill>
                  <a:schemeClr val="tx1"/>
                </a:solidFill>
              </a:rPr>
              <a:t>Complex Abstractions</a:t>
            </a:r>
          </a:p>
          <a:p>
            <a:r>
              <a:rPr lang="en-US" sz="1600" dirty="0">
                <a:solidFill>
                  <a:schemeClr val="tx1"/>
                </a:solidFill>
              </a:rPr>
              <a:t>Difficult Deployments</a:t>
            </a:r>
          </a:p>
          <a:p>
            <a:r>
              <a:rPr lang="en-US" sz="1600" dirty="0">
                <a:solidFill>
                  <a:schemeClr val="tx1"/>
                </a:solidFill>
              </a:rPr>
              <a:t>Concurrency Challenges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4A4E0B-48D5-3A4F-4FD5-59251FEF5549}"/>
              </a:ext>
            </a:extLst>
          </p:cNvPr>
          <p:cNvSpPr txBox="1">
            <a:spLocks/>
          </p:cNvSpPr>
          <p:nvPr/>
        </p:nvSpPr>
        <p:spPr>
          <a:xfrm>
            <a:off x="6590729" y="2535446"/>
            <a:ext cx="4495247" cy="3554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8A8D2"/>
                </a:solidFill>
              </a:rPr>
              <a:t>Go’s Response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Fast Compilation</a:t>
            </a:r>
          </a:p>
          <a:p>
            <a:r>
              <a:rPr lang="en-US" sz="1600" dirty="0">
                <a:solidFill>
                  <a:schemeClr val="tx1"/>
                </a:solidFill>
              </a:rPr>
              <a:t>Simple Language</a:t>
            </a:r>
          </a:p>
          <a:p>
            <a:r>
              <a:rPr lang="en-US" sz="1600" dirty="0">
                <a:solidFill>
                  <a:schemeClr val="tx1"/>
                </a:solidFill>
              </a:rPr>
              <a:t>Small, Portable Binaries</a:t>
            </a:r>
          </a:p>
          <a:p>
            <a:r>
              <a:rPr lang="en-US" sz="1600" dirty="0">
                <a:solidFill>
                  <a:schemeClr val="tx1"/>
                </a:solidFill>
              </a:rPr>
              <a:t>Built-in Concurrency</a:t>
            </a:r>
          </a:p>
          <a:p>
            <a:r>
              <a:rPr lang="en-US" sz="1600" dirty="0">
                <a:solidFill>
                  <a:schemeClr val="tx1"/>
                </a:solidFill>
              </a:rPr>
              <a:t>Readable Code</a:t>
            </a:r>
            <a:endParaRPr lang="en-US" sz="1600" dirty="0">
              <a:solidFill>
                <a:srgbClr val="08A8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854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377358-8E5D-51C5-EB33-3D65EC875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864E5C9-52C9-4572-AC75-548B9B9C2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CC6500-4DBD-4C34-BC14-2387FB483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FF6405-8AB0-24D2-B92C-2C071F06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1298448"/>
            <a:ext cx="3258688" cy="325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900" spc="-100"/>
              <a:t>Go’s Design Rules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E34A3B6-BAD2-4156-BDC6-4736248BF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1C6F50-C7E0-B80F-DDB8-7543CF2AB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992945"/>
              </p:ext>
            </p:extLst>
          </p:nvPr>
        </p:nvGraphicFramePr>
        <p:xfrm>
          <a:off x="5120640" y="1257644"/>
          <a:ext cx="6367272" cy="4334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9049">
                  <a:extLst>
                    <a:ext uri="{9D8B030D-6E8A-4147-A177-3AD203B41FA5}">
                      <a16:colId xmlns:a16="http://schemas.microsoft.com/office/drawing/2014/main" val="192487454"/>
                    </a:ext>
                  </a:extLst>
                </a:gridCol>
                <a:gridCol w="3148223">
                  <a:extLst>
                    <a:ext uri="{9D8B030D-6E8A-4147-A177-3AD203B41FA5}">
                      <a16:colId xmlns:a16="http://schemas.microsoft.com/office/drawing/2014/main" val="2444635998"/>
                    </a:ext>
                  </a:extLst>
                </a:gridCol>
              </a:tblGrid>
              <a:tr h="560944">
                <a:tc>
                  <a:txBody>
                    <a:bodyPr/>
                    <a:lstStyle/>
                    <a:p>
                      <a:r>
                        <a:rPr lang="en-US" sz="1600"/>
                        <a:t>Principle</a:t>
                      </a:r>
                    </a:p>
                  </a:txBody>
                  <a:tcPr marL="127487" marR="127487" marT="63744" marB="6374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What it means…</a:t>
                      </a:r>
                    </a:p>
                  </a:txBody>
                  <a:tcPr marL="127487" marR="127487" marT="63744" marB="63744"/>
                </a:tc>
                <a:extLst>
                  <a:ext uri="{0D108BD9-81ED-4DB2-BD59-A6C34878D82A}">
                    <a16:rowId xmlns:a16="http://schemas.microsoft.com/office/drawing/2014/main" val="830790045"/>
                  </a:ext>
                </a:extLst>
              </a:tr>
              <a:tr h="943405">
                <a:tc>
                  <a:txBody>
                    <a:bodyPr/>
                    <a:lstStyle/>
                    <a:p>
                      <a:r>
                        <a:rPr lang="en-US" sz="1600"/>
                        <a:t>Simplicity Wins</a:t>
                      </a:r>
                    </a:p>
                  </a:txBody>
                  <a:tcPr marL="127487" marR="127487" marT="63744" marB="6374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Every feature has maintenance cost.</a:t>
                      </a:r>
                    </a:p>
                  </a:txBody>
                  <a:tcPr marL="127487" marR="127487" marT="63744" marB="63744"/>
                </a:tc>
                <a:extLst>
                  <a:ext uri="{0D108BD9-81ED-4DB2-BD59-A6C34878D82A}">
                    <a16:rowId xmlns:a16="http://schemas.microsoft.com/office/drawing/2014/main" val="1002530403"/>
                  </a:ext>
                </a:extLst>
              </a:tr>
              <a:tr h="943405">
                <a:tc>
                  <a:txBody>
                    <a:bodyPr/>
                    <a:lstStyle/>
                    <a:p>
                      <a:r>
                        <a:rPr lang="en-US" sz="1600"/>
                        <a:t>Explicit is Better</a:t>
                      </a:r>
                    </a:p>
                  </a:txBody>
                  <a:tcPr marL="127487" marR="127487" marT="63744" marB="6374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Behavior should never surprise you.</a:t>
                      </a:r>
                    </a:p>
                  </a:txBody>
                  <a:tcPr marL="127487" marR="127487" marT="63744" marB="63744"/>
                </a:tc>
                <a:extLst>
                  <a:ext uri="{0D108BD9-81ED-4DB2-BD59-A6C34878D82A}">
                    <a16:rowId xmlns:a16="http://schemas.microsoft.com/office/drawing/2014/main" val="744432846"/>
                  </a:ext>
                </a:extLst>
              </a:tr>
              <a:tr h="943405">
                <a:tc>
                  <a:txBody>
                    <a:bodyPr/>
                    <a:lstStyle/>
                    <a:p>
                      <a:r>
                        <a:rPr lang="en-US" sz="1600"/>
                        <a:t>Composition Over Hierarchy</a:t>
                      </a:r>
                    </a:p>
                  </a:txBody>
                  <a:tcPr marL="127487" marR="127487" marT="63744" marB="6374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Prefer assembling small pieces.</a:t>
                      </a:r>
                    </a:p>
                  </a:txBody>
                  <a:tcPr marL="127487" marR="127487" marT="63744" marB="63744"/>
                </a:tc>
                <a:extLst>
                  <a:ext uri="{0D108BD9-81ED-4DB2-BD59-A6C34878D82A}">
                    <a16:rowId xmlns:a16="http://schemas.microsoft.com/office/drawing/2014/main" val="3908743504"/>
                  </a:ext>
                </a:extLst>
              </a:tr>
              <a:tr h="943405">
                <a:tc>
                  <a:txBody>
                    <a:bodyPr/>
                    <a:lstStyle/>
                    <a:p>
                      <a:r>
                        <a:rPr lang="en-US" sz="1600"/>
                        <a:t>Optimize for Teams</a:t>
                      </a:r>
                    </a:p>
                  </a:txBody>
                  <a:tcPr marL="127487" marR="127487" marT="63744" marB="63744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Readability beats cleverness.</a:t>
                      </a:r>
                    </a:p>
                  </a:txBody>
                  <a:tcPr marL="127487" marR="127487" marT="63744" marB="63744"/>
                </a:tc>
                <a:extLst>
                  <a:ext uri="{0D108BD9-81ED-4DB2-BD59-A6C34878D82A}">
                    <a16:rowId xmlns:a16="http://schemas.microsoft.com/office/drawing/2014/main" val="1796674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4346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2776F-FC3B-03B6-FD54-4E36230AC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1C1C829-D528-B70A-A41B-63A2CE38C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E69B98-B902-1A04-6E6A-F9600C0D9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276B15-3627-CBC4-B230-E592F044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754" y="1087374"/>
            <a:ext cx="8983489" cy="1000978"/>
          </a:xfrm>
        </p:spPr>
        <p:txBody>
          <a:bodyPr>
            <a:normAutofit/>
          </a:bodyPr>
          <a:lstStyle/>
          <a:p>
            <a:r>
              <a:rPr lang="en-US" sz="2800" dirty="0"/>
              <a:t>No Classes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FF1561-89B5-B069-3DBD-30E3F29C4A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5858D5-B2BA-6B13-9D1E-302EA2392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3EE9FB-91BB-5992-F88E-04613F200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48C41-5F95-0F98-C4AD-956BB5D09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9019" y="2526527"/>
            <a:ext cx="9633962" cy="48337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Go has </a:t>
            </a:r>
            <a:r>
              <a:rPr lang="en-US" i="1" dirty="0">
                <a:solidFill>
                  <a:schemeClr val="tx1"/>
                </a:solidFill>
              </a:rPr>
              <a:t>structs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i="1" dirty="0">
                <a:solidFill>
                  <a:schemeClr val="tx1"/>
                </a:solidFill>
              </a:rPr>
              <a:t>methods</a:t>
            </a:r>
            <a:r>
              <a:rPr lang="en-US" dirty="0">
                <a:solidFill>
                  <a:schemeClr val="tx1"/>
                </a:solidFill>
              </a:rPr>
              <a:t>. No special object construction, no </a:t>
            </a:r>
            <a:r>
              <a:rPr lang="en-US" i="1" dirty="0">
                <a:solidFill>
                  <a:schemeClr val="tx1"/>
                </a:solidFill>
              </a:rPr>
              <a:t>this</a:t>
            </a:r>
            <a:r>
              <a:rPr lang="en-US" dirty="0">
                <a:solidFill>
                  <a:schemeClr val="tx1"/>
                </a:solidFill>
              </a:rPr>
              <a:t>, no access modifiers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B5D825-5FA3-4EF1-AE03-D63342598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537" y="3339403"/>
            <a:ext cx="4641683" cy="15972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138633-0CF7-93AC-25E9-86CC9B173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533" y="3339403"/>
            <a:ext cx="3979448" cy="172144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F3E413-35DB-4BF1-CD4E-03D202687C54}"/>
              </a:ext>
            </a:extLst>
          </p:cNvPr>
          <p:cNvSpPr txBox="1">
            <a:spLocks/>
          </p:cNvSpPr>
          <p:nvPr/>
        </p:nvSpPr>
        <p:spPr>
          <a:xfrm>
            <a:off x="1279019" y="5583637"/>
            <a:ext cx="9633962" cy="4833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itchFamily="18" charset="2"/>
              <a:buNone/>
            </a:pPr>
            <a:r>
              <a:rPr lang="en-US" dirty="0">
                <a:solidFill>
                  <a:schemeClr val="tx1"/>
                </a:solidFill>
              </a:rPr>
              <a:t>The same </a:t>
            </a:r>
            <a:r>
              <a:rPr lang="en-US" i="1" dirty="0">
                <a:solidFill>
                  <a:schemeClr val="tx1"/>
                </a:solidFill>
              </a:rPr>
              <a:t>Player </a:t>
            </a:r>
            <a:r>
              <a:rPr lang="en-US" dirty="0">
                <a:solidFill>
                  <a:schemeClr val="tx1"/>
                </a:solidFill>
              </a:rPr>
              <a:t>struct – structure without ritual.</a:t>
            </a:r>
          </a:p>
        </p:txBody>
      </p:sp>
    </p:spTree>
    <p:extLst>
      <p:ext uri="{BB962C8B-B14F-4D97-AF65-F5344CB8AC3E}">
        <p14:creationId xmlns:p14="http://schemas.microsoft.com/office/powerpoint/2010/main" val="1266800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94B1CB-D803-17CE-B07B-828D383C6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EE9FFE6-ADE5-505D-B155-DFCC9D2DB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B3A7CD-8F69-749E-BC49-B546F937B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6628E4-AE5F-BC3E-D644-BDA093CC4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754" y="1087374"/>
            <a:ext cx="8983489" cy="1000978"/>
          </a:xfrm>
        </p:spPr>
        <p:txBody>
          <a:bodyPr>
            <a:normAutofit/>
          </a:bodyPr>
          <a:lstStyle/>
          <a:p>
            <a:r>
              <a:rPr lang="en-US" sz="2800" dirty="0"/>
              <a:t>No Inheritance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71E5BD-2C83-6CFE-17A7-125AEC5B2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49B355-3288-1EE9-3CB4-D66499E0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95B8AC-C640-C5A9-F30D-F646D80B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DCEC4-DA66-B883-A858-162051233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9019" y="2526527"/>
            <a:ext cx="9633962" cy="46430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Go has no </a:t>
            </a:r>
            <a:r>
              <a:rPr lang="en-US" i="1" dirty="0">
                <a:solidFill>
                  <a:schemeClr val="tx1"/>
                </a:solidFill>
              </a:rPr>
              <a:t>extends. </a:t>
            </a:r>
            <a:r>
              <a:rPr lang="en-US" dirty="0">
                <a:solidFill>
                  <a:schemeClr val="tx1"/>
                </a:solidFill>
              </a:rPr>
              <a:t>Behavior composed through </a:t>
            </a:r>
            <a:r>
              <a:rPr lang="en-US" i="1" dirty="0">
                <a:solidFill>
                  <a:schemeClr val="tx1"/>
                </a:solidFill>
              </a:rPr>
              <a:t>interfaces </a:t>
            </a:r>
            <a:r>
              <a:rPr lang="en-US" dirty="0">
                <a:solidFill>
                  <a:schemeClr val="tx1"/>
                </a:solidFill>
              </a:rPr>
              <a:t>rather than inherited.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EA27C7-9CD6-8B3D-F3B4-67974D7CC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852" y="3429000"/>
            <a:ext cx="4651646" cy="14818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CC3200-D291-3856-72ED-E7CA38BEA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841" y="3429000"/>
            <a:ext cx="4168140" cy="178387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A24BE-6CB4-9033-24D4-D4CDB17BCCE9}"/>
              </a:ext>
            </a:extLst>
          </p:cNvPr>
          <p:cNvSpPr txBox="1">
            <a:spLocks/>
          </p:cNvSpPr>
          <p:nvPr/>
        </p:nvSpPr>
        <p:spPr>
          <a:xfrm>
            <a:off x="1279019" y="5612540"/>
            <a:ext cx="9633962" cy="4643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itchFamily="18" charset="2"/>
              <a:buNone/>
            </a:pPr>
            <a:r>
              <a:rPr lang="en-US" dirty="0">
                <a:solidFill>
                  <a:schemeClr val="tx1"/>
                </a:solidFill>
              </a:rPr>
              <a:t>Composition over Inheritance - Go’s own design rule, built-in to the language itself.</a:t>
            </a:r>
          </a:p>
        </p:txBody>
      </p:sp>
    </p:spTree>
    <p:extLst>
      <p:ext uri="{BB962C8B-B14F-4D97-AF65-F5344CB8AC3E}">
        <p14:creationId xmlns:p14="http://schemas.microsoft.com/office/powerpoint/2010/main" val="3133559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C301F0-2520-1162-58AD-0A5383FEF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A218E96-08BB-72D9-8B2E-A6A120E38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A23E57-B55E-866F-C14B-219202AF2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33354-31A4-1D87-4CCF-3CE981A32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754" y="1087374"/>
            <a:ext cx="8983489" cy="1000978"/>
          </a:xfrm>
        </p:spPr>
        <p:txBody>
          <a:bodyPr>
            <a:normAutofit/>
          </a:bodyPr>
          <a:lstStyle/>
          <a:p>
            <a:r>
              <a:rPr lang="en-US" sz="2800" dirty="0"/>
              <a:t>No Exceptions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6793E3-EE77-D590-198F-17D8B885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416124-0404-B657-3764-E37C4DD8D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847A41-9860-57E3-DED9-2E0F8CCDD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74598-A152-3388-3D5B-48E454FB5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9019" y="2526526"/>
            <a:ext cx="9633962" cy="64251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Go has no </a:t>
            </a:r>
            <a:r>
              <a:rPr lang="en-US" b="1" i="1" dirty="0">
                <a:solidFill>
                  <a:schemeClr val="tx1"/>
                </a:solidFill>
              </a:rPr>
              <a:t>try/catch</a:t>
            </a:r>
            <a:r>
              <a:rPr lang="en-US" dirty="0">
                <a:solidFill>
                  <a:schemeClr val="tx1"/>
                </a:solidFill>
              </a:rPr>
              <a:t>. Errors are just values – returned, checked, and handled explicitly.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579C6C-DDD5-9734-3A00-B19B483E5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019" y="3664620"/>
            <a:ext cx="4429539" cy="964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61A486-D2D1-E602-7F28-96F3DC67A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498" y="3688964"/>
            <a:ext cx="4978878" cy="95025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809E808-0487-9572-9CE5-C245CC7BF37C}"/>
              </a:ext>
            </a:extLst>
          </p:cNvPr>
          <p:cNvSpPr txBox="1">
            <a:spLocks/>
          </p:cNvSpPr>
          <p:nvPr/>
        </p:nvSpPr>
        <p:spPr>
          <a:xfrm>
            <a:off x="1279019" y="5563833"/>
            <a:ext cx="9633962" cy="6425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itchFamily="18" charset="2"/>
              <a:buNone/>
            </a:pPr>
            <a:r>
              <a:rPr lang="en-US" dirty="0">
                <a:solidFill>
                  <a:schemeClr val="tx1"/>
                </a:solidFill>
              </a:rPr>
              <a:t>Explicit is better – Go’s own design rule, enforced by the language itself.</a:t>
            </a:r>
          </a:p>
        </p:txBody>
      </p:sp>
    </p:spTree>
    <p:extLst>
      <p:ext uri="{BB962C8B-B14F-4D97-AF65-F5344CB8AC3E}">
        <p14:creationId xmlns:p14="http://schemas.microsoft.com/office/powerpoint/2010/main" val="3037680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DA1604-D46C-FAD1-74EE-6BFBBDB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03B0DDB-956D-FA7C-6E31-BD3E4E0EC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C4AE1D-13D8-27A5-2575-B322BD0AB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13A433-E3FE-C812-7721-876D1DD8A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754" y="1087374"/>
            <a:ext cx="8983489" cy="1000978"/>
          </a:xfrm>
        </p:spPr>
        <p:txBody>
          <a:bodyPr>
            <a:normAutofit/>
          </a:bodyPr>
          <a:lstStyle/>
          <a:p>
            <a:r>
              <a:rPr lang="en-US" sz="2800" dirty="0"/>
              <a:t>No Formatting Debates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B8BAEE-1497-A738-EA16-769F17070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85799E-370F-832C-A539-5E63F350C9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9C14A3-A21E-507C-CC9C-F59DF2414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1A6A4-EBD3-5F74-4A91-C0C6D40A5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9019" y="2526526"/>
            <a:ext cx="9633962" cy="75959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Go ships with a standardized toolchain. </a:t>
            </a:r>
            <a:r>
              <a:rPr lang="en-US" b="1" i="1" dirty="0" err="1">
                <a:solidFill>
                  <a:schemeClr val="tx1"/>
                </a:solidFill>
              </a:rPr>
              <a:t>gofmt</a:t>
            </a:r>
            <a:r>
              <a:rPr lang="en-US" dirty="0">
                <a:solidFill>
                  <a:schemeClr val="tx1"/>
                </a:solidFill>
              </a:rPr>
              <a:t> is built in — one format, no configuration, no debate.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79DF22-A8C5-1382-3DED-09AD5C476923}"/>
              </a:ext>
            </a:extLst>
          </p:cNvPr>
          <p:cNvSpPr txBox="1">
            <a:spLocks/>
          </p:cNvSpPr>
          <p:nvPr/>
        </p:nvSpPr>
        <p:spPr>
          <a:xfrm>
            <a:off x="1272015" y="5601123"/>
            <a:ext cx="9633962" cy="4230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Optimize for teams — readability beats cleverness, and consistency beats preference</a:t>
            </a:r>
          </a:p>
        </p:txBody>
      </p:sp>
    </p:spTree>
    <p:extLst>
      <p:ext uri="{BB962C8B-B14F-4D97-AF65-F5344CB8AC3E}">
        <p14:creationId xmlns:p14="http://schemas.microsoft.com/office/powerpoint/2010/main" val="1863160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9EF3D-4225-E3FB-1859-0166815F0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578BFA0-40FD-CC54-6599-AC3C76CAA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2EA16E-1B98-1E4D-63E1-682103182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B7C11-D4E8-73B5-3953-7AF3E867F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754" y="1087374"/>
            <a:ext cx="8983489" cy="1000978"/>
          </a:xfrm>
        </p:spPr>
        <p:txBody>
          <a:bodyPr>
            <a:normAutofit/>
          </a:bodyPr>
          <a:lstStyle/>
          <a:p>
            <a:r>
              <a:rPr lang="en-US" sz="2800" dirty="0"/>
              <a:t>No Threads Required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499E87-0E48-6581-F60D-473673F35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D7B742-4E6F-2EF6-1A92-BDAC34CA4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512368-24A7-B7DE-9595-4F1093174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08F12-1838-981A-ADC0-9B1B3AE7C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9019" y="2526526"/>
            <a:ext cx="9633962" cy="64251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Go abstracts OS thread management with goroutines — lightweight, cheap, and built into the language.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4C27AD-AE5C-8C05-2703-B51D00F3D132}"/>
              </a:ext>
            </a:extLst>
          </p:cNvPr>
          <p:cNvSpPr txBox="1">
            <a:spLocks/>
          </p:cNvSpPr>
          <p:nvPr/>
        </p:nvSpPr>
        <p:spPr>
          <a:xfrm>
            <a:off x="1279019" y="5674277"/>
            <a:ext cx="9633962" cy="4156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Built-in concurrency — not bolted on, not a library, part of the language from day one.</a:t>
            </a:r>
          </a:p>
        </p:txBody>
      </p:sp>
    </p:spTree>
    <p:extLst>
      <p:ext uri="{BB962C8B-B14F-4D97-AF65-F5344CB8AC3E}">
        <p14:creationId xmlns:p14="http://schemas.microsoft.com/office/powerpoint/2010/main" val="767495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1DFCBE5-52C1-48A9-89CF-E7D68CCA1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17C8F6-D357-4254-BBAC-96B01EEBE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47203"/>
            <a:ext cx="11707367" cy="25726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EBF7C9-F2A7-577B-FB9D-6410FB3FE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708" y="921038"/>
            <a:ext cx="2726165" cy="2726165"/>
          </a:xfrm>
          <a:prstGeom prst="rect">
            <a:avLst/>
          </a:prstGeom>
        </p:spPr>
      </p:pic>
      <p:pic>
        <p:nvPicPr>
          <p:cNvPr id="4" name="Picture 3" descr="Go Lang Gopher No Sticker - Just Stickers : Just Stickers">
            <a:extLst>
              <a:ext uri="{FF2B5EF4-FFF2-40B4-BE49-F238E27FC236}">
                <a16:creationId xmlns:a16="http://schemas.microsoft.com/office/drawing/2014/main" id="{D1BBCEC3-4D46-29C8-72CE-209012F34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489" y="984554"/>
            <a:ext cx="2599132" cy="25991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893D6-171C-42ED-4AA4-F6F33267D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83" y="3991899"/>
            <a:ext cx="4846151" cy="1883229"/>
          </a:xfrm>
        </p:spPr>
        <p:txBody>
          <a:bodyPr anchor="t">
            <a:normAutofit fontScale="85000" lnSpcReduction="20000"/>
          </a:bodyPr>
          <a:lstStyle/>
          <a:p>
            <a:pPr>
              <a:buClrTx/>
            </a:pPr>
            <a:r>
              <a:rPr lang="en-US" sz="1800" dirty="0">
                <a:solidFill>
                  <a:srgbClr val="FFFFFF"/>
                </a:solidFill>
              </a:rPr>
              <a:t>Clever Abstractions</a:t>
            </a:r>
          </a:p>
          <a:p>
            <a:pPr>
              <a:buClrTx/>
            </a:pPr>
            <a:r>
              <a:rPr lang="en-US" sz="1800" dirty="0">
                <a:solidFill>
                  <a:srgbClr val="FFFFFF"/>
                </a:solidFill>
              </a:rPr>
              <a:t>Complex Build Systems</a:t>
            </a:r>
          </a:p>
          <a:p>
            <a:pPr>
              <a:buClrTx/>
            </a:pPr>
            <a:r>
              <a:rPr lang="en-US" sz="1800" dirty="0">
                <a:solidFill>
                  <a:srgbClr val="FFFFFF"/>
                </a:solidFill>
              </a:rPr>
              <a:t>Formatting Debates</a:t>
            </a:r>
          </a:p>
          <a:p>
            <a:pPr>
              <a:buClrTx/>
            </a:pPr>
            <a:r>
              <a:rPr lang="en-US" sz="1800" dirty="0">
                <a:solidFill>
                  <a:srgbClr val="FFFFFF"/>
                </a:solidFill>
              </a:rPr>
              <a:t>Heavy Runtimes</a:t>
            </a:r>
          </a:p>
          <a:p>
            <a:pPr>
              <a:buClrTx/>
            </a:pPr>
            <a:r>
              <a:rPr lang="en-US" sz="1800" dirty="0">
                <a:solidFill>
                  <a:srgbClr val="FFFFFF"/>
                </a:solidFill>
              </a:rPr>
              <a:t>Inheritance</a:t>
            </a:r>
          </a:p>
          <a:p>
            <a:pPr>
              <a:buClrTx/>
            </a:pPr>
            <a:r>
              <a:rPr lang="en-US" sz="1800" dirty="0">
                <a:solidFill>
                  <a:srgbClr val="FFFFFF"/>
                </a:solidFill>
              </a:rPr>
              <a:t>Spending Complexity Elsewhere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D0BE98-DCDC-F22F-1665-713F79B13547}"/>
              </a:ext>
            </a:extLst>
          </p:cNvPr>
          <p:cNvSpPr txBox="1">
            <a:spLocks/>
          </p:cNvSpPr>
          <p:nvPr/>
        </p:nvSpPr>
        <p:spPr>
          <a:xfrm>
            <a:off x="6264825" y="3991898"/>
            <a:ext cx="4846151" cy="188322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n-US" sz="1800" dirty="0">
                <a:solidFill>
                  <a:srgbClr val="FFFFFF"/>
                </a:solidFill>
              </a:rPr>
              <a:t>Readable code</a:t>
            </a:r>
          </a:p>
          <a:p>
            <a:pPr>
              <a:buClrTx/>
            </a:pPr>
            <a:r>
              <a:rPr lang="en-US" sz="1800" dirty="0">
                <a:solidFill>
                  <a:srgbClr val="FFFFFF"/>
                </a:solidFill>
              </a:rPr>
              <a:t>Fast feedback</a:t>
            </a:r>
          </a:p>
          <a:p>
            <a:pPr>
              <a:buClrTx/>
            </a:pPr>
            <a:r>
              <a:rPr lang="en-US" sz="1800" dirty="0">
                <a:solidFill>
                  <a:srgbClr val="FFFFFF"/>
                </a:solidFill>
              </a:rPr>
              <a:t>Team consistency</a:t>
            </a:r>
          </a:p>
          <a:p>
            <a:pPr>
              <a:buClrTx/>
            </a:pPr>
            <a:r>
              <a:rPr lang="en-US" sz="1800" dirty="0">
                <a:solidFill>
                  <a:srgbClr val="FFFFFF"/>
                </a:solidFill>
              </a:rPr>
              <a:t>Simple deployments</a:t>
            </a:r>
          </a:p>
          <a:p>
            <a:pPr>
              <a:buClrTx/>
            </a:pPr>
            <a:r>
              <a:rPr lang="en-US" sz="1800" dirty="0">
                <a:solidFill>
                  <a:srgbClr val="FFFFFF"/>
                </a:solidFill>
              </a:rPr>
              <a:t>Composition</a:t>
            </a:r>
          </a:p>
          <a:p>
            <a:pPr>
              <a:buClrTx/>
            </a:pPr>
            <a:r>
              <a:rPr lang="en-US" sz="1800" dirty="0">
                <a:solidFill>
                  <a:srgbClr val="FFFFFF"/>
                </a:solidFill>
              </a:rPr>
              <a:t>Concurrency</a:t>
            </a:r>
          </a:p>
        </p:txBody>
      </p:sp>
    </p:spTree>
    <p:extLst>
      <p:ext uri="{BB962C8B-B14F-4D97-AF65-F5344CB8AC3E}">
        <p14:creationId xmlns:p14="http://schemas.microsoft.com/office/powerpoint/2010/main" val="2182705127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Custom 1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08A8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2277</TotalTime>
  <Words>712</Words>
  <Application>Microsoft Macintosh PowerPoint</Application>
  <PresentationFormat>Widescreen</PresentationFormat>
  <Paragraphs>92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Corbel</vt:lpstr>
      <vt:lpstr>Wingdings 2</vt:lpstr>
      <vt:lpstr>Frame</vt:lpstr>
      <vt:lpstr>Go The Language That Intentionally Says ”No”</vt:lpstr>
      <vt:lpstr>What if a language became popular because of the features it refused to add?</vt:lpstr>
      <vt:lpstr>If Go removed all these things that many developers consider essential, why did anyone adopt it?</vt:lpstr>
      <vt:lpstr>Why did Google build Go?</vt:lpstr>
      <vt:lpstr>Go’s Design Rules</vt:lpstr>
      <vt:lpstr>No Classes</vt:lpstr>
      <vt:lpstr>No Inheritance</vt:lpstr>
      <vt:lpstr>No Exceptions</vt:lpstr>
      <vt:lpstr>No Formatting Debates</vt:lpstr>
      <vt:lpstr>No Threads Required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Curtis McLaughlin</dc:creator>
  <cp:lastModifiedBy>Curtis McLaughlin</cp:lastModifiedBy>
  <cp:revision>86</cp:revision>
  <dcterms:created xsi:type="dcterms:W3CDTF">2026-08-04T14:45:41Z</dcterms:created>
  <dcterms:modified xsi:type="dcterms:W3CDTF">2026-08-18T00:24:20Z</dcterms:modified>
</cp:coreProperties>
</file>